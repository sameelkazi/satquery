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13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pic>
        <p:nvPicPr>
          <p:cNvPr id="4" name="Image 0" descr="/home/claude/doc_build/isr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03504"/>
            <a:ext cx="566928" cy="566928"/>
          </a:xfrm>
          <a:prstGeom prst="rect">
            <a:avLst/>
          </a:prstGeom>
        </p:spPr>
      </p:pic>
      <p:pic>
        <p:nvPicPr>
          <p:cNvPr id="5" name="Image 1" descr="/home/claude/doc_build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658368"/>
            <a:ext cx="1700784" cy="8641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30352" y="199339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SatQuery AI</a:t>
            </a:r>
            <a:endParaRPr lang="en-US" sz="6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9992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Vision-Language Intelligence for Satellite Imagery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3703320"/>
            <a:ext cx="11091672" cy="2468880"/>
          </a:xfrm>
          <a:prstGeom prst="roundRect">
            <a:avLst>
              <a:gd name="adj" fmla="val 4444"/>
            </a:avLst>
          </a:prstGeom>
          <a:solidFill>
            <a:srgbClr val="17264A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68680" y="3950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41696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SIH26167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263640" y="3950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41696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exact PS title from the SIH portal ]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46634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48828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46634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48828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53766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68680" y="5596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Fill from portal ]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6263640" y="53766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263640" y="5596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Fill — as registered on portal ]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1457432" y="6492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TITLE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 — one conversational interface, six mandated remote-sensing capabilities, genuinely adapted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48256"/>
            <a:ext cx="566928" cy="566928"/>
          </a:xfrm>
          <a:prstGeom prst="ellipse">
            <a:avLst/>
          </a:prstGeom>
          <a:solidFill>
            <a:srgbClr val="0E7FA0"/>
          </a:solidFill>
          <a:ln/>
        </p:spPr>
      </p:sp>
      <p:pic>
        <p:nvPicPr>
          <p:cNvPr id="7" name="Image 0" descr="/home/claude/ppt_build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2116287"/>
            <a:ext cx="430865" cy="4308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5681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26771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agentic assistant over satellite imagery: ask a question and get VQA answers, grounded bounding boxes, bi-temporal change detection with change-VQA, optical+SAR fusion, and zero-shot land-cover search — all from one interface with a downloadable, auditable execution trace.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310128"/>
            <a:ext cx="11091672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529584"/>
            <a:ext cx="566928" cy="566928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2" name="Image 1" descr="/home/claude/ppt_build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91" y="3597615"/>
            <a:ext cx="430865" cy="4308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4381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addresses the problem statement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37490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vision-language model (Qwen2.5-VL-3B) is genuinely fine-tuned via LoRA on real, image-grounded VRSBench examples — not a generic LLM wrapped in a chat UI. An agentic router validates every input (image count, modality, format, CRS) before dispatching to the correct specialist model.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791456"/>
            <a:ext cx="11091672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5010912"/>
            <a:ext cx="566928" cy="566928"/>
          </a:xfrm>
          <a:prstGeom prst="ellipse">
            <a:avLst/>
          </a:prstGeom>
          <a:solidFill>
            <a:srgbClr val="D98F2B"/>
          </a:solidFill>
          <a:ln/>
        </p:spPr>
      </p:sp>
      <p:pic>
        <p:nvPicPr>
          <p:cNvPr id="17" name="Image 2" descr="/home/claude/ppt_build/icons/g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1" y="5078943"/>
            <a:ext cx="430865" cy="4308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91947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and uniqueness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52303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5-tier honest fallback chain that never fails silently and names which tier answered every time; confidence scores tagged model-derived vs. heuristic; a live, evidence-driven retraining loop (real bugs diagnosed → real fixes); plus 9 extra capabilities beyond the mandatory scope — multi-instance detection, live ISRO/Copernicus data ingestion, and bilingual voice SITREPs.</a:t>
            </a:r>
            <a:endParaRPr lang="en-US" sz="1150" dirty="0"/>
          </a:p>
        </p:txBody>
      </p:sp>
      <p:pic>
        <p:nvPicPr>
          <p:cNvPr id="20" name="Image 3" descr="/home/claude/doc_build/isro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28816"/>
            <a:ext cx="256032" cy="256032"/>
          </a:xfrm>
          <a:prstGeom prst="rect">
            <a:avLst/>
          </a:prstGeom>
        </p:spPr>
      </p:pic>
      <p:pic>
        <p:nvPicPr>
          <p:cNvPr id="21" name="Image 4" descr="/home/claude/doc_build/sih_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574536"/>
            <a:ext cx="329184" cy="1673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11457432" y="6492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57276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Qwen2.5-VL-3B-Instruct + LoRA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27832" y="1572768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00984" y="157276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NF4 4-bit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58384" y="157276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31536" y="1572768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14616" y="1572768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87768" y="1572768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Leaflet.js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048256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" y="204825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AdaptFormer-CD / ChangeFormer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7832" y="2048256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00984" y="2048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RemoteCLIP (ViT-L/14)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58384" y="2048256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31536" y="2048256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+ SAHI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71816" y="2048256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44968" y="2048256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Llama-3-8B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523744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E4F1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2523744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GPU + HF Hub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END-TO-END REQUEST PIPELINE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218688"/>
            <a:ext cx="11091672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pic>
        <p:nvPicPr>
          <p:cNvPr id="25" name="Image 0" descr="/home/claude/doc_build/diagram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01568"/>
            <a:ext cx="10424160" cy="22860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68680" y="57424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→ agentic routing (Groq Llama-3 + rule fallback) → parallel specialist execution (asyncio.gather) → RAG grounding → response synthesis + audit report</a:t>
            </a:r>
            <a:endParaRPr lang="en-US" sz="1100" dirty="0"/>
          </a:p>
        </p:txBody>
      </p:sp>
      <p:pic>
        <p:nvPicPr>
          <p:cNvPr id="27" name="Image 1" descr="/home/claude/doc_build/isr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28816"/>
            <a:ext cx="256032" cy="256032"/>
          </a:xfrm>
          <a:prstGeom prst="rect">
            <a:avLst/>
          </a:prstGeom>
        </p:spPr>
      </p:pic>
      <p:pic>
        <p:nvPicPr>
          <p:cNvPr id="28" name="Image 2" descr="/home/claude/doc_build/sih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574536"/>
            <a:ext cx="329184" cy="16733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234440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1457432" y="6492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1645920"/>
            <a:ext cx="640080" cy="64008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6" name="Image 0" descr="/home/claude/ppt_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1350" y="1722730"/>
            <a:ext cx="486461" cy="4864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Feasible today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80360"/>
            <a:ext cx="30998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pipeline — 12/12 benchmark queries pass live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single 8 GB consumer GPU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trained on free-tier Kaggle GPU, near-zero cost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— no dependency on expensive closed APIs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1688" y="137160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47588" y="1645920"/>
            <a:ext cx="640080" cy="640080"/>
          </a:xfrm>
          <a:prstGeom prst="ellipse">
            <a:avLst/>
          </a:prstGeom>
          <a:solidFill>
            <a:srgbClr val="D98F2B"/>
          </a:solidFill>
          <a:ln/>
        </p:spPr>
      </p:sp>
      <p:pic>
        <p:nvPicPr>
          <p:cNvPr id="11" name="Image 1" descr="/home/claude/ppt_build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398" y="172273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44568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challenges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80360"/>
            <a:ext cx="30998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ISRO evaluation uses undisclosed Cartosat-2S/RISAT imagery, never seen in development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localization precision is still being actively hardened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fallback tiers depend on external API availability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74736" y="137160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60636" y="1645920"/>
            <a:ext cx="640080" cy="640080"/>
          </a:xfrm>
          <a:prstGeom prst="ellipse">
            <a:avLst/>
          </a:prstGeom>
          <a:solidFill>
            <a:srgbClr val="0E7FA0"/>
          </a:solidFill>
          <a:ln/>
        </p:spPr>
      </p:sp>
      <p:pic>
        <p:nvPicPr>
          <p:cNvPr id="16" name="Image 2" descr="/home/claude/ppt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446" y="172273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strategy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2880360"/>
            <a:ext cx="30998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fallback keeps the system responsive even if a higher tier fails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evidence-driven retraining targets the grounding gap directly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scales to the full VRSBench + BigEarthNet-MM corpus</a:t>
            </a:r>
            <a:endParaRPr lang="en-US" sz="1100" dirty="0"/>
          </a:p>
        </p:txBody>
      </p:sp>
      <p:pic>
        <p:nvPicPr>
          <p:cNvPr id="19" name="Image 3" descr="/home/claude/doc_build/isro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528816"/>
            <a:ext cx="256032" cy="256032"/>
          </a:xfrm>
          <a:prstGeom prst="rect">
            <a:avLst/>
          </a:prstGeom>
        </p:spPr>
      </p:pic>
      <p:pic>
        <p:nvPicPr>
          <p:cNvPr id="20" name="Image 4" descr="/home/claude/doc_build/sih_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574536"/>
            <a:ext cx="329184" cy="16733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1457432" y="6492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1D33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69164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/ NRSC Analysts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6916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D33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33472" y="16916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NDMA — Disaster Response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1691640"/>
            <a:ext cx="1783080" cy="365760"/>
          </a:xfrm>
          <a:prstGeom prst="roundRect">
            <a:avLst>
              <a:gd name="adj" fmla="val 20000"/>
            </a:avLst>
          </a:prstGeom>
          <a:solidFill>
            <a:srgbClr val="1D33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56632" y="16916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MNCFC — Agriculture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03720" y="169164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1D33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76872" y="169164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MoHUA — Urban Planning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D33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88552" y="169164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INCOIS — Maritime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1965960" cy="365760"/>
          </a:xfrm>
          <a:prstGeom prst="roundRect">
            <a:avLst>
              <a:gd name="adj" fmla="val 20000"/>
            </a:avLst>
          </a:prstGeom>
          <a:solidFill>
            <a:srgbClr val="1D33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214884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GovTech Portals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214884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1D33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24912" y="214884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(long-term)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512064" cy="512064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0" name="Image 0" descr="/home/claude/ppt_build/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088" y="2941808"/>
            <a:ext cx="389169" cy="389169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34440" y="28620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&amp; disaster impact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154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flood and land-cover change detection speeds up disaster response and environmental oversight.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813048"/>
            <a:ext cx="512064" cy="512064"/>
          </a:xfrm>
          <a:prstGeom prst="ellipse">
            <a:avLst/>
          </a:prstGeom>
          <a:solidFill>
            <a:srgbClr val="D98F2B"/>
          </a:solidFill>
          <a:ln/>
        </p:spPr>
      </p:sp>
      <p:pic>
        <p:nvPicPr>
          <p:cNvPr id="24" name="Image 1" descr="/home/claude/ppt_build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88" y="3874496"/>
            <a:ext cx="389169" cy="389169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234440" y="37947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impact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234440" y="4087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manual GIS analysis — cuts turnaround from hours to seconds; a sub-50 KB 2D map runs on cellular data.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48640" y="4745736"/>
            <a:ext cx="512064" cy="512064"/>
          </a:xfrm>
          <a:prstGeom prst="ellipse">
            <a:avLst/>
          </a:prstGeom>
          <a:solidFill>
            <a:srgbClr val="0E7FA0"/>
          </a:solidFill>
          <a:ln/>
        </p:spPr>
      </p:sp>
      <p:pic>
        <p:nvPicPr>
          <p:cNvPr id="28" name="Image 2" descr="/home/claude/ppt_build/icons/han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4807184"/>
            <a:ext cx="389169" cy="389169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234440" y="4727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accessibility impact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234440" y="50200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(Hindi/English) voice interaction and plain-language answers open satellite analysis to non-expert field officers.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1457432" y="6492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0E7FA0"/>
          </a:solidFill>
          <a:ln/>
        </p:spPr>
      </p:sp>
      <p:pic>
        <p:nvPicPr>
          <p:cNvPr id="6" name="Image 0" descr="/home/claude/ppt_build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8249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642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Benchmarks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28600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VRSBench — A Versatile Vision-Language Benchmark for Remote Sensing (NeurIPS 2024)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RSVQA — Visual Question Answering for Remote Sensing Data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CDVQA — Change Detection Meets Visual Question Answering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BigEarthNet.txt — large-scale multi-sensor image-text benchmark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4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627632"/>
            <a:ext cx="457200" cy="457200"/>
          </a:xfrm>
          <a:prstGeom prst="ellipse">
            <a:avLst/>
          </a:prstGeom>
          <a:solidFill>
            <a:srgbClr val="0E7FA0"/>
          </a:solidFill>
          <a:ln/>
        </p:spPr>
      </p:sp>
      <p:pic>
        <p:nvPicPr>
          <p:cNvPr id="11" name="Image 1" descr="/home/claude/ppt_build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68249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6642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Methods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28600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Technical Report (Qwen Team, Alibaba)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 — low-rank &amp; quantized fine-tuning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GeoChat — Grounded Vision-Language Model for Remote Sensing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+ SAHI — open-set, tiled detection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RemoteCLIP — vision-language foundation model for RS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ChangeFormer / LEVIR-CD — Siamese change detection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adapter (Hugging Face Hub): huggingface.co/Sameelkazi/satquery-qwen25vl-vrsbench-lora-v2</a:t>
            </a:r>
            <a:endParaRPr lang="en-US" sz="1050" dirty="0"/>
          </a:p>
        </p:txBody>
      </p:sp>
      <p:pic>
        <p:nvPicPr>
          <p:cNvPr id="15" name="Image 2" descr="/home/claude/doc_build/isro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28816"/>
            <a:ext cx="256032" cy="256032"/>
          </a:xfrm>
          <a:prstGeom prst="rect">
            <a:avLst/>
          </a:prstGeom>
        </p:spPr>
      </p:pic>
      <p:pic>
        <p:nvPicPr>
          <p:cNvPr id="16" name="Image 3" descr="/home/claude/doc_build/sih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6574536"/>
            <a:ext cx="329184" cy="1673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457432" y="6492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2026-09-04T19:52:19Z</dcterms:created>
  <dcterms:modified xsi:type="dcterms:W3CDTF">2026-09-04T19:52:19Z</dcterms:modified>
</cp:coreProperties>
</file>